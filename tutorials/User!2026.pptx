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Roche Sans"/>
      <p:regular r:id="rId17"/>
      <p:bold r:id="rId18"/>
      <p:italic r:id="rId19"/>
      <p:boldItalic r:id="rId20"/>
    </p:embeddedFont>
    <p:embeddedFont>
      <p:font typeface="Roboto Mono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cheSans-boldItalic.fntdata"/><Relationship Id="rId11" Type="http://schemas.openxmlformats.org/officeDocument/2006/relationships/slide" Target="slides/slide6.xml"/><Relationship Id="rId22" Type="http://schemas.openxmlformats.org/officeDocument/2006/relationships/font" Target="fonts/RobotoMono-bold.fntdata"/><Relationship Id="rId10" Type="http://schemas.openxmlformats.org/officeDocument/2006/relationships/slide" Target="slides/slide5.xml"/><Relationship Id="rId21" Type="http://schemas.openxmlformats.org/officeDocument/2006/relationships/font" Target="fonts/RobotoMono-regular.fntdata"/><Relationship Id="rId13" Type="http://schemas.openxmlformats.org/officeDocument/2006/relationships/slide" Target="slides/slide8.xml"/><Relationship Id="rId24" Type="http://schemas.openxmlformats.org/officeDocument/2006/relationships/font" Target="fonts/RobotoMono-boldItalic.fntdata"/><Relationship Id="rId12" Type="http://schemas.openxmlformats.org/officeDocument/2006/relationships/slide" Target="slides/slide7.xml"/><Relationship Id="rId23" Type="http://schemas.openxmlformats.org/officeDocument/2006/relationships/font" Target="fonts/RobotoMon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ocheSans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cheSans-italic.fntdata"/><Relationship Id="rId6" Type="http://schemas.openxmlformats.org/officeDocument/2006/relationships/slide" Target="slides/slide1.xml"/><Relationship Id="rId18" Type="http://schemas.openxmlformats.org/officeDocument/2006/relationships/font" Target="fonts/RocheSans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_00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_00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s_00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s_00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s_00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s_00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s_00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s_00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s_00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s_00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s_00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s_00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s_00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s_00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4099f5d051d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4099f5d051d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s_00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s_00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s_00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s_00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s_00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s_00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gif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gif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gif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00000" y="1450000"/>
            <a:ext cx="7700100" cy="17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latin typeface="Roche Sans"/>
                <a:ea typeface="Roche Sans"/>
                <a:cs typeface="Roche Sans"/>
                <a:sym typeface="Roche Sans"/>
              </a:rPr>
              <a:t>Enabling Data Exploration Through a Metadata Layer:</a:t>
            </a:r>
            <a:endParaRPr b="1" sz="2800"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latin typeface="Roche Sans"/>
                <a:ea typeface="Roche Sans"/>
                <a:cs typeface="Roche Sans"/>
                <a:sym typeface="Roche Sans"/>
              </a:rPr>
              <a:t>LLM Integration in cohortBuilder</a:t>
            </a:r>
            <a:endParaRPr b="1" sz="2800"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700000" y="3250000"/>
            <a:ext cx="77001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Krystian Igras · Adam Foryś</a:t>
            </a:r>
            <a:endParaRPr sz="16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700000" y="3850000"/>
            <a:ext cx="7700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66CC"/>
                </a:solidFill>
                <a:latin typeface="Roche Sans"/>
                <a:ea typeface="Roche Sans"/>
                <a:cs typeface="Roche Sans"/>
                <a:sym typeface="Roche Sans"/>
              </a:rPr>
              <a:t>useR!2026 · Lightning talk</a:t>
            </a:r>
            <a:endParaRPr b="1">
              <a:solidFill>
                <a:srgbClr val="0066CC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/>
        </p:nvSpPr>
        <p:spPr>
          <a:xfrm>
            <a:off x="500000" y="300000"/>
            <a:ext cx="81000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3C4043"/>
                </a:solidFill>
                <a:latin typeface="Roche Sans"/>
                <a:ea typeface="Roche Sans"/>
                <a:cs typeface="Roche Sans"/>
                <a:sym typeface="Roche Sans"/>
              </a:rPr>
              <a:t>About (shiny)cohortBuilder</a:t>
            </a:r>
            <a:endParaRPr b="1" sz="2600">
              <a:solidFill>
                <a:srgbClr val="3C404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400000" y="907275"/>
            <a:ext cx="5323200" cy="39249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library(cohortBuilder)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src &lt;- </a:t>
            </a: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set_source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tblist(people  = starwars$people,species = starwars$species),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binding_keys = bind_keys(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bind_key(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  update = data_key("people", "species_id"),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  data_key("species", "id")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coh &lt;- </a:t>
            </a: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cohort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src,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filter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"discrete", dataset = "people", 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variable = "gender",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name = "Gender", value = "male"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),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filter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"range", dataset = "people", 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variable = "height",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name = "Height", range = c(150, 220)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),</a:t>
            </a:r>
            <a:endParaRPr b="1"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filter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"discrete", dataset = "species", 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variable = "classification",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name = "Classification", value = "mammal"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) |&gt; 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run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()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 rotWithShape="1">
          <a:blip r:embed="rId3">
            <a:alphaModFix/>
          </a:blip>
          <a:srcRect b="29041" l="0" r="3892" t="4029"/>
          <a:stretch/>
        </p:blipFill>
        <p:spPr>
          <a:xfrm>
            <a:off x="5723075" y="587702"/>
            <a:ext cx="2714601" cy="4244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/>
          <p:nvPr/>
        </p:nvSpPr>
        <p:spPr>
          <a:xfrm>
            <a:off x="6194974" y="332202"/>
            <a:ext cx="300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shinyCohortBuilder::gui(coh)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/>
        </p:nvSpPr>
        <p:spPr>
          <a:xfrm>
            <a:off x="500000" y="300000"/>
            <a:ext cx="81000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3C4043"/>
                </a:solidFill>
                <a:latin typeface="Roche Sans"/>
                <a:ea typeface="Roche Sans"/>
                <a:cs typeface="Roche Sans"/>
                <a:sym typeface="Roche Sans"/>
              </a:rPr>
              <a:t>The problem</a:t>
            </a:r>
            <a:endParaRPr b="1" sz="2600">
              <a:solidFill>
                <a:srgbClr val="3C404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450000" y="1300000"/>
            <a:ext cx="3549900" cy="3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The starwars dataset: 4 tables (people, planets, species, films),</a:t>
            </a:r>
            <a:r>
              <a:rPr b="1" lang="en" sz="13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 35 columns</a:t>
            </a:r>
            <a:r>
              <a:rPr lang="en" sz="13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 total.</a:t>
            </a:r>
            <a:endParaRPr sz="13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With that many columns, it's tiresome to even explore them and decide which to filter on.</a:t>
            </a:r>
            <a:endParaRPr sz="13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3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“…instead, I'll just ask.”</a:t>
            </a:r>
            <a:endParaRPr i="1" sz="13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pic>
        <p:nvPicPr>
          <p:cNvPr id="71" name="Google Shape;7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99900" y="274900"/>
            <a:ext cx="4675100" cy="467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/>
        </p:nvSpPr>
        <p:spPr>
          <a:xfrm>
            <a:off x="500000" y="300000"/>
            <a:ext cx="81000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3C4043"/>
                </a:solidFill>
                <a:latin typeface="Roche Sans"/>
                <a:ea typeface="Roche Sans"/>
                <a:cs typeface="Roche Sans"/>
                <a:sym typeface="Roche Sans"/>
              </a:rPr>
              <a:t>Demo — warm-up</a:t>
            </a:r>
            <a:endParaRPr b="1" sz="2600">
              <a:solidFill>
                <a:srgbClr val="3C404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450000" y="1300000"/>
            <a:ext cx="4200000" cy="3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700">
                <a:solidFill>
                  <a:srgbClr val="3C4043"/>
                </a:solidFill>
                <a:latin typeface="Roche Sans"/>
                <a:ea typeface="Roche Sans"/>
                <a:cs typeface="Roche Sans"/>
                <a:sym typeface="Roche Sans"/>
              </a:rPr>
              <a:t>“Keep only female characters.”</a:t>
            </a:r>
            <a:endParaRPr b="1" i="1" sz="1700">
              <a:solidFill>
                <a:srgbClr val="3C404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One natural-language request → one discrete filter applied on the people table.</a:t>
            </a:r>
            <a:endParaRPr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The filter appears in the panel and the results refresh instantly.</a:t>
            </a:r>
            <a:endParaRPr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pic>
        <p:nvPicPr>
          <p:cNvPr id="78" name="Google Shape;7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000" y="1200000"/>
            <a:ext cx="3749999" cy="374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/>
          <p:nvPr/>
        </p:nvSpPr>
        <p:spPr>
          <a:xfrm>
            <a:off x="500000" y="300000"/>
            <a:ext cx="81000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3C4043"/>
                </a:solidFill>
                <a:latin typeface="Roche Sans"/>
                <a:ea typeface="Roche Sans"/>
                <a:cs typeface="Roche Sans"/>
                <a:sym typeface="Roche Sans"/>
              </a:rPr>
              <a:t>Demo — iterate</a:t>
            </a:r>
            <a:endParaRPr b="1" sz="2600">
              <a:solidFill>
                <a:srgbClr val="3C404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84" name="Google Shape;84;p17"/>
          <p:cNvSpPr txBox="1"/>
          <p:nvPr/>
        </p:nvSpPr>
        <p:spPr>
          <a:xfrm>
            <a:off x="450000" y="1300000"/>
            <a:ext cx="4200000" cy="3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500">
                <a:solidFill>
                  <a:srgbClr val="3C4043"/>
                </a:solidFill>
                <a:latin typeface="Roche Sans"/>
                <a:ea typeface="Roche Sans"/>
                <a:cs typeface="Roche Sans"/>
                <a:sym typeface="Roche Sans"/>
              </a:rPr>
              <a:t>“Keep all the mammals that originate from high-temperature planets.”</a:t>
            </a:r>
            <a:endParaRPr b="1" i="1" sz="1500">
              <a:solidFill>
                <a:srgbClr val="3C404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Multiple conditions across species and planets — resolved in a single step, respecting each column's valid range.</a:t>
            </a:r>
            <a:endParaRPr sz="13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pic>
        <p:nvPicPr>
          <p:cNvPr id="85" name="Google Shape;8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000" y="1200000"/>
            <a:ext cx="3749999" cy="374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8"/>
          <p:cNvSpPr txBox="1"/>
          <p:nvPr/>
        </p:nvSpPr>
        <p:spPr>
          <a:xfrm>
            <a:off x="450000" y="289550"/>
            <a:ext cx="81000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3C4043"/>
                </a:solidFill>
                <a:latin typeface="Roche Sans"/>
                <a:ea typeface="Roche Sans"/>
                <a:cs typeface="Roche Sans"/>
                <a:sym typeface="Roche Sans"/>
              </a:rPr>
              <a:t>Reproducible code</a:t>
            </a:r>
            <a:endParaRPr b="1" sz="2600">
              <a:solidFill>
                <a:srgbClr val="3C404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91" name="Google Shape;91;p18"/>
          <p:cNvSpPr txBox="1"/>
          <p:nvPr/>
        </p:nvSpPr>
        <p:spPr>
          <a:xfrm>
            <a:off x="747000" y="1258175"/>
            <a:ext cx="3800100" cy="14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See exactly how filtering works through reproducible code.</a:t>
            </a:r>
            <a:endParaRPr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pic>
        <p:nvPicPr>
          <p:cNvPr id="92" name="Google Shape;92;p18"/>
          <p:cNvPicPr preferRelativeResize="0"/>
          <p:nvPr/>
        </p:nvPicPr>
        <p:blipFill rotWithShape="1">
          <a:blip r:embed="rId3">
            <a:alphaModFix/>
          </a:blip>
          <a:srcRect b="16436" l="1280" r="997" t="21119"/>
          <a:stretch/>
        </p:blipFill>
        <p:spPr>
          <a:xfrm>
            <a:off x="746988" y="2131300"/>
            <a:ext cx="7650027" cy="2602792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8"/>
          <p:cNvSpPr txBox="1"/>
          <p:nvPr/>
        </p:nvSpPr>
        <p:spPr>
          <a:xfrm>
            <a:off x="4318600" y="1258175"/>
            <a:ext cx="3951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Given the source data, apply it to reproduce the same results and validate every step yourself.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/>
        </p:nvSpPr>
        <p:spPr>
          <a:xfrm>
            <a:off x="500000" y="300000"/>
            <a:ext cx="81000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3C4043"/>
                </a:solidFill>
                <a:latin typeface="Roche Sans"/>
                <a:ea typeface="Roche Sans"/>
                <a:cs typeface="Roche Sans"/>
                <a:sym typeface="Roche Sans"/>
              </a:rPr>
              <a:t>Cohort state</a:t>
            </a:r>
            <a:endParaRPr b="1" sz="2600">
              <a:solidFill>
                <a:srgbClr val="3C404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450000" y="1300000"/>
            <a:ext cx="3800100" cy="3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Get State saves your cohort as portable JSON — one file that travels anywhere.</a:t>
            </a:r>
            <a:endParaRPr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Hand it off, restore it, and pick up right where you left off.</a:t>
            </a:r>
            <a:endParaRPr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pic>
        <p:nvPicPr>
          <p:cNvPr id="100" name="Google Shape;100;p19"/>
          <p:cNvPicPr preferRelativeResize="0"/>
          <p:nvPr/>
        </p:nvPicPr>
        <p:blipFill rotWithShape="1">
          <a:blip r:embed="rId3">
            <a:alphaModFix/>
          </a:blip>
          <a:srcRect b="58851" l="1624" r="1720" t="5651"/>
          <a:stretch/>
        </p:blipFill>
        <p:spPr>
          <a:xfrm>
            <a:off x="4496400" y="1071563"/>
            <a:ext cx="3800100" cy="30003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/>
          <p:nvPr/>
        </p:nvSpPr>
        <p:spPr>
          <a:xfrm>
            <a:off x="500000" y="300000"/>
            <a:ext cx="81000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3C4043"/>
                </a:solidFill>
                <a:latin typeface="Roche Sans"/>
                <a:ea typeface="Roche Sans"/>
                <a:cs typeface="Roche Sans"/>
                <a:sym typeface="Roche Sans"/>
              </a:rPr>
              <a:t>Enabling the LLM assistant</a:t>
            </a:r>
            <a:endParaRPr b="1" sz="2600">
              <a:solidFill>
                <a:srgbClr val="3C404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106" name="Google Shape;106;p20"/>
          <p:cNvSpPr txBox="1"/>
          <p:nvPr/>
        </p:nvSpPr>
        <p:spPr>
          <a:xfrm>
            <a:off x="303640" y="1300000"/>
            <a:ext cx="3050100" cy="3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66CC"/>
                </a:solidFill>
                <a:latin typeface="Roche Sans"/>
                <a:ea typeface="Roche Sans"/>
                <a:cs typeface="Roche Sans"/>
                <a:sym typeface="Roche Sans"/>
              </a:rPr>
              <a:t>1  Describe the data</a:t>
            </a:r>
            <a:endParaRPr b="1">
              <a:solidFill>
                <a:srgbClr val="0066CC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Add a description (domains + text the LLM reads) in set_source().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66CC"/>
                </a:solidFill>
                <a:latin typeface="Roche Sans"/>
                <a:ea typeface="Roche Sans"/>
                <a:cs typeface="Roche Sans"/>
                <a:sym typeface="Roche Sans"/>
              </a:rPr>
              <a:t>2  Register the tools</a:t>
            </a:r>
            <a:endParaRPr b="1">
              <a:solidFill>
                <a:srgbClr val="0066CC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Expose the cohort to an ellmer chat with cb_register_tools().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66CC"/>
                </a:solidFill>
                <a:latin typeface="Roche Sans"/>
                <a:ea typeface="Roche Sans"/>
                <a:cs typeface="Roche Sans"/>
                <a:sym typeface="Roche Sans"/>
              </a:rPr>
              <a:t>3  Ask in plain language</a:t>
            </a:r>
            <a:endParaRPr b="1">
              <a:solidFill>
                <a:srgbClr val="0066CC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The LLM discovers filters and applies valid values.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107" name="Google Shape;107;p20"/>
          <p:cNvSpPr txBox="1"/>
          <p:nvPr/>
        </p:nvSpPr>
        <p:spPr>
          <a:xfrm>
            <a:off x="3406012" y="1200000"/>
            <a:ext cx="5643900" cy="29736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# 1. Describe the data (domains + text the LLM reads)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src &lt;- set_source(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tblist(people = starwars$people, species = starwars$species),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description 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= list(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people = list(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  dataset_ = </a:t>
            </a: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describe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("Star Wars characters."),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  gender   = </a:t>
            </a: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describe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("Gender (male, female, ...)", label = "Gender")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),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species = list(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  classification = </a:t>
            </a: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describe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("Biological class.", label = "Classification")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  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  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) |&gt; autofilter()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coh &lt;- cohort(src) |&gt; run()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# 2. Register cohortBuilder tools on an ellmer chat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chat 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&lt;- ellmer::chat_anthropic()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chat |&gt; </a:t>
            </a: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cb_register_tools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(coh)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# 3. Ask in natural language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chat$chat</a:t>
            </a:r>
            <a:r>
              <a:rPr lang="en" sz="900">
                <a:solidFill>
                  <a:srgbClr val="3C4043"/>
                </a:solidFill>
                <a:latin typeface="Roboto Mono"/>
                <a:ea typeface="Roboto Mono"/>
                <a:cs typeface="Roboto Mono"/>
                <a:sym typeface="Roboto Mono"/>
              </a:rPr>
              <a:t>("Keep only female characters.")</a:t>
            </a:r>
            <a:endParaRPr sz="900">
              <a:solidFill>
                <a:srgbClr val="3C40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8" name="Google Shape;108;p20"/>
          <p:cNvSpPr txBox="1"/>
          <p:nvPr/>
        </p:nvSpPr>
        <p:spPr>
          <a:xfrm>
            <a:off x="157800" y="4273500"/>
            <a:ext cx="881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List of available tools: </a:t>
            </a:r>
            <a:r>
              <a:rPr lang="en">
                <a:solidFill>
                  <a:srgbClr val="0066CC"/>
                </a:solidFill>
                <a:latin typeface="Roche Sans"/>
                <a:ea typeface="Roche Sans"/>
                <a:cs typeface="Roche Sans"/>
                <a:sym typeface="Roche Sans"/>
              </a:rPr>
              <a:t>https://r-world-devs.github.io/cohortBuilder/articles/source-intelligence.html#connecting-a-cohort-to-an-llm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/>
        </p:nvSpPr>
        <p:spPr>
          <a:xfrm>
            <a:off x="500000" y="300000"/>
            <a:ext cx="81000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3C4043"/>
                </a:solidFill>
                <a:latin typeface="Roche Sans"/>
                <a:ea typeface="Roche Sans"/>
                <a:cs typeface="Roche Sans"/>
                <a:sym typeface="Roche Sans"/>
              </a:rPr>
              <a:t>From barrier to FAIR exploration</a:t>
            </a:r>
            <a:endParaRPr b="1" sz="2600">
              <a:solidFill>
                <a:srgbClr val="3C404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114" name="Google Shape;114;p21"/>
          <p:cNvSpPr txBox="1"/>
          <p:nvPr/>
        </p:nvSpPr>
        <p:spPr>
          <a:xfrm>
            <a:off x="450000" y="1250000"/>
            <a:ext cx="2679900" cy="3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0066CC"/>
                </a:solidFill>
                <a:latin typeface="Roche Sans"/>
                <a:ea typeface="Roche Sans"/>
                <a:cs typeface="Roche Sans"/>
                <a:sym typeface="Roche Sans"/>
              </a:rPr>
              <a:t>The barrier</a:t>
            </a:r>
            <a:endParaRPr b="1" sz="1500">
              <a:solidFill>
                <a:srgbClr val="0066CC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Filtering requires knowing the schema — exact variable names and valid ranges. A high entry threshold even for technical users: the knowledge lives in people's heads, not with the data.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115" name="Google Shape;115;p21"/>
          <p:cNvSpPr txBox="1"/>
          <p:nvPr/>
        </p:nvSpPr>
        <p:spPr>
          <a:xfrm>
            <a:off x="3230000" y="1250000"/>
            <a:ext cx="2679900" cy="3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0066CC"/>
                </a:solidFill>
                <a:latin typeface="Roche Sans"/>
                <a:ea typeface="Roche Sans"/>
                <a:cs typeface="Roche Sans"/>
                <a:sym typeface="Roche Sans"/>
              </a:rPr>
              <a:t>Our proposal</a:t>
            </a:r>
            <a:endParaRPr b="1" sz="1500">
              <a:solidFill>
                <a:srgbClr val="0066CC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A metadata layer connecting filtering pipelines to LLMs via tool calling. Describe the data once; the app and the LLM discover filters, read constraints, and apply valid values — in natural language or the GUI.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116" name="Google Shape;116;p21"/>
          <p:cNvSpPr txBox="1"/>
          <p:nvPr/>
        </p:nvSpPr>
        <p:spPr>
          <a:xfrm>
            <a:off x="6010000" y="1250000"/>
            <a:ext cx="2679900" cy="3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378E3C"/>
                </a:solidFill>
                <a:latin typeface="Roche Sans"/>
                <a:ea typeface="Roche Sans"/>
                <a:cs typeface="Roche Sans"/>
                <a:sym typeface="Roche Sans"/>
              </a:rPr>
              <a:t>FAIR by design</a:t>
            </a:r>
            <a:endParaRPr b="1" sz="1500">
              <a:solidFill>
                <a:srgbClr val="378E3C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Findable + Accessible — metadata for humans and machines.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Interoperable — across backends.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Reusable — describe once, reproduce as shareable R code or Shiny bookmarks.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/>
          <p:nvPr/>
        </p:nvSpPr>
        <p:spPr>
          <a:xfrm>
            <a:off x="500000" y="300000"/>
            <a:ext cx="81000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3C4043"/>
                </a:solidFill>
                <a:latin typeface="Roche Sans"/>
                <a:ea typeface="Roche Sans"/>
                <a:cs typeface="Roche Sans"/>
                <a:sym typeface="Roche Sans"/>
              </a:rPr>
              <a:t>Real-time GUI — and why it matters</a:t>
            </a:r>
            <a:endParaRPr b="1" sz="2600">
              <a:solidFill>
                <a:srgbClr val="3C404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122" name="Google Shape;122;p22"/>
          <p:cNvSpPr txBox="1"/>
          <p:nvPr/>
        </p:nvSpPr>
        <p:spPr>
          <a:xfrm>
            <a:off x="450000" y="1300000"/>
            <a:ext cx="4050000" cy="3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0066CC"/>
                </a:solidFill>
                <a:latin typeface="Roche Sans"/>
                <a:ea typeface="Roche Sans"/>
                <a:cs typeface="Roche Sans"/>
                <a:sym typeface="Roche Sans"/>
              </a:rPr>
              <a:t>The chat drives the GUI</a:t>
            </a:r>
            <a:endParaRPr b="1" sz="1500">
              <a:solidFill>
                <a:srgbClr val="0066CC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A chat panel lets users talk to the LLM; tool calls mutate the shared Cohort.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Post-action hooks fire an internal “data updated” signal.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The GUI reacts in real time: filters appear, values change, results refresh.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LLM edits and manual clicks are indistinguishable to the app.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123" name="Google Shape;123;p22"/>
          <p:cNvSpPr txBox="1"/>
          <p:nvPr/>
        </p:nvSpPr>
        <p:spPr>
          <a:xfrm>
            <a:off x="4700000" y="1300000"/>
            <a:ext cx="4050000" cy="3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378E3C"/>
                </a:solidFill>
                <a:latin typeface="Roche Sans"/>
                <a:ea typeface="Roche Sans"/>
                <a:cs typeface="Roche Sans"/>
                <a:sym typeface="Roche Sans"/>
              </a:rPr>
              <a:t>Why it matters</a:t>
            </a:r>
            <a:endParaRPr b="1" sz="1500">
              <a:solidFill>
                <a:srgbClr val="378E3C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A fully metadata-driven solution with reproducible output.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The filtered data is always represented in the UI.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Technical users keep full, precise control of the pipeline.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Describe the data model once — you decide what the LLM can access.</a:t>
            </a:r>
            <a:endParaRPr sz="12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/>
          <p:nvPr/>
        </p:nvSpPr>
        <p:spPr>
          <a:xfrm>
            <a:off x="800000" y="1700000"/>
            <a:ext cx="7500000" cy="9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rgbClr val="3C4043"/>
                </a:solidFill>
                <a:latin typeface="Roche Sans"/>
                <a:ea typeface="Roche Sans"/>
                <a:cs typeface="Roche Sans"/>
                <a:sym typeface="Roche Sans"/>
              </a:rPr>
              <a:t>Thank you!</a:t>
            </a:r>
            <a:endParaRPr b="1" sz="4400">
              <a:solidFill>
                <a:srgbClr val="3C404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129" name="Google Shape;129;p23"/>
          <p:cNvSpPr txBox="1"/>
          <p:nvPr/>
        </p:nvSpPr>
        <p:spPr>
          <a:xfrm>
            <a:off x="800000" y="2850000"/>
            <a:ext cx="7500000" cy="11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66CC"/>
                </a:solidFill>
                <a:latin typeface="Roche Sans"/>
                <a:ea typeface="Roche Sans"/>
                <a:cs typeface="Roche Sans"/>
                <a:sym typeface="Roche Sans"/>
              </a:rPr>
              <a:t>cohortBuilder docs — https://r-world-devs.github.io/cohortBuilder/</a:t>
            </a:r>
            <a:endParaRPr>
              <a:solidFill>
                <a:srgbClr val="0066CC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66CC"/>
                </a:solidFill>
                <a:latin typeface="Roche Sans"/>
                <a:ea typeface="Roche Sans"/>
                <a:cs typeface="Roche Sans"/>
                <a:sym typeface="Roche Sans"/>
              </a:rPr>
              <a:t>shinyCohortBuilder docs — https://r-world-devs.github.io/shinyCohortBuilder/</a:t>
            </a:r>
            <a:endParaRPr>
              <a:solidFill>
                <a:srgbClr val="0066CC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66CC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333333"/>
                </a:solidFill>
                <a:latin typeface="Roche Sans"/>
                <a:ea typeface="Roche Sans"/>
                <a:cs typeface="Roche Sans"/>
                <a:sym typeface="Roche Sans"/>
              </a:rPr>
              <a:t>Krystian Igras · Adam Foryś</a:t>
            </a:r>
            <a:endParaRPr sz="1300">
              <a:solidFill>
                <a:srgbClr val="333333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