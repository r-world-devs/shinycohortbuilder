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che Sans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cheSans-regular.fntdata"/><Relationship Id="rId14" Type="http://schemas.openxmlformats.org/officeDocument/2006/relationships/slide" Target="slides/slide9.xml"/><Relationship Id="rId17" Type="http://schemas.openxmlformats.org/officeDocument/2006/relationships/font" Target="fonts/RocheSans-italic.fntdata"/><Relationship Id="rId16" Type="http://schemas.openxmlformats.org/officeDocument/2006/relationships/font" Target="fonts/RocheSa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Roche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_0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_0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_0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_0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s_0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s_0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s_0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s_0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s_0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s_0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_0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_0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s_0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s_0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s_0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s_0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s_0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s_0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00000" y="1450000"/>
            <a:ext cx="77001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Roche Sans"/>
                <a:ea typeface="Roche Sans"/>
                <a:cs typeface="Roche Sans"/>
                <a:sym typeface="Roche Sans"/>
              </a:rPr>
              <a:t>Enabling Data Exploration Through a Metadata Layer:</a:t>
            </a:r>
            <a:endParaRPr b="1" sz="2800"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Roche Sans"/>
                <a:ea typeface="Roche Sans"/>
                <a:cs typeface="Roche Sans"/>
                <a:sym typeface="Roche Sans"/>
              </a:rPr>
              <a:t>LLM Integration in cohortBuilder</a:t>
            </a:r>
            <a:endParaRPr b="1" sz="2800"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00000" y="3250000"/>
            <a:ext cx="77001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Krystian Igras · Adam Foryś</a:t>
            </a:r>
            <a:endParaRPr sz="16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00000" y="3850000"/>
            <a:ext cx="770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6CC"/>
                </a:solidFill>
                <a:latin typeface="Roche Sans"/>
                <a:ea typeface="Roche Sans"/>
                <a:cs typeface="Roche Sans"/>
                <a:sym typeface="Roche Sans"/>
              </a:rPr>
              <a:t>useR!2026 · Lightning talk</a:t>
            </a:r>
            <a:endParaRPr b="1">
              <a:solidFill>
                <a:srgbClr val="0066CC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500000" y="300000"/>
            <a:ext cx="810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About (shiny)cohortBuilder</a:t>
            </a:r>
            <a:endParaRPr b="1" sz="2600">
              <a:solidFill>
                <a:srgbClr val="3C404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50000" y="1250000"/>
            <a:ext cx="4350000" cy="3450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library(cohortBuilder)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src &lt;- </a:t>
            </a:r>
            <a:r>
              <a:rPr b="1"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set_source</a:t>
            </a: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  tblist(people = starwars$people)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coh &lt;- </a:t>
            </a:r>
            <a:r>
              <a:rPr b="1"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cohort</a:t>
            </a: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  src,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filter</a:t>
            </a: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("discrete", dataset = "people",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         name = "Gender", </a:t>
            </a:r>
            <a:r>
              <a:rPr b="1"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variable = "gender"</a:t>
            </a: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         value = "male"),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filter</a:t>
            </a: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("range", dataset = "people",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         name = "Height", </a:t>
            </a:r>
            <a:r>
              <a:rPr b="1"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variable = "height"</a:t>
            </a: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         range = c(150, 220)),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filter</a:t>
            </a: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("discrete", dataset = "people",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         name = "Species", </a:t>
            </a:r>
            <a:r>
              <a:rPr b="1"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variable = "species"</a:t>
            </a: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         value = "Human")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) |&gt; </a:t>
            </a:r>
            <a:r>
              <a:rPr b="1"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en" sz="1000">
                <a:solidFill>
                  <a:srgbClr val="3C4043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000">
              <a:solidFill>
                <a:srgbClr val="3C40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29324" l="0" r="0" t="0"/>
          <a:stretch/>
        </p:blipFill>
        <p:spPr>
          <a:xfrm>
            <a:off x="5407875" y="253400"/>
            <a:ext cx="2802181" cy="444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500000" y="300000"/>
            <a:ext cx="810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The problem</a:t>
            </a:r>
            <a:endParaRPr b="1" sz="2600">
              <a:solidFill>
                <a:srgbClr val="3C404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50000" y="1300000"/>
            <a:ext cx="35499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The starwars dataset: 4 tables (people · planets · species · films), 35 columns total.</a:t>
            </a:r>
            <a:endParaRPr sz="13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With that many columns, it's tiresome to even explore them and decide which to filter on.</a:t>
            </a:r>
            <a:endParaRPr sz="13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“…instead, I'll just ask.”</a:t>
            </a:r>
            <a:endParaRPr sz="13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000" y="800000"/>
            <a:ext cx="3550000" cy="35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500000" y="300000"/>
            <a:ext cx="810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Demo — warm-up</a:t>
            </a:r>
            <a:endParaRPr b="1" sz="2600">
              <a:solidFill>
                <a:srgbClr val="3C404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50000" y="1300000"/>
            <a:ext cx="42000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“Keep only male characters.</a:t>
            </a:r>
            <a:r>
              <a:rPr lang="en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”</a:t>
            </a:r>
            <a:endParaRPr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One natural-language request → one discrete filter applied on the people table.</a:t>
            </a:r>
            <a:endParaRPr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The filter appears in the panel and the results refresh instantly.</a:t>
            </a:r>
            <a:endParaRPr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000" y="800000"/>
            <a:ext cx="3550000" cy="35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500000" y="300000"/>
            <a:ext cx="810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Demo — the payoff</a:t>
            </a:r>
            <a:endParaRPr b="1" sz="2600">
              <a:solidFill>
                <a:srgbClr val="3C404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50000" y="1300000"/>
            <a:ext cx="42000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“Find human characters taller than 180 cm from planets with a population over 1 billion.”</a:t>
            </a:r>
            <a:endParaRPr b="1" i="1" sz="1600">
              <a:solidFill>
                <a:srgbClr val="3C404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3C404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Multip</a:t>
            </a:r>
            <a:r>
              <a:rPr lang="en" sz="13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le conditions across people, species and planets — resolved in a single step, respecting each column's valid range.</a:t>
            </a:r>
            <a:endParaRPr sz="13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000" y="800000"/>
            <a:ext cx="3550000" cy="35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500000" y="300000"/>
            <a:ext cx="810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Iterate, explain, reproduce</a:t>
            </a:r>
            <a:endParaRPr b="1" sz="2600">
              <a:solidFill>
                <a:srgbClr val="3C404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450000" y="1300000"/>
            <a:ext cx="42000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“Now narrow to mammalian species, and tell me what you filtered.</a:t>
            </a:r>
            <a:r>
              <a:rPr lang="en" sz="13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”</a:t>
            </a:r>
            <a:endParaRPr sz="13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Fully reproducible output via the state and reproducible-code features — inspect the state manually and customize further yourself.</a:t>
            </a:r>
            <a:endParaRPr sz="13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000" y="800000"/>
            <a:ext cx="3550000" cy="35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500000" y="300000"/>
            <a:ext cx="810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From barrier to FAIR exploration</a:t>
            </a:r>
            <a:endParaRPr b="1" sz="2600">
              <a:solidFill>
                <a:srgbClr val="3C404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450000" y="1250000"/>
            <a:ext cx="2679900" cy="3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66CC"/>
                </a:solidFill>
                <a:latin typeface="Roche Sans"/>
                <a:ea typeface="Roche Sans"/>
                <a:cs typeface="Roche Sans"/>
                <a:sym typeface="Roche Sans"/>
              </a:rPr>
              <a:t>The barrier</a:t>
            </a:r>
            <a:endParaRPr b="1" sz="1500">
              <a:solidFill>
                <a:srgbClr val="0066CC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Filtering requires knowing the schema — exact variable names and valid ranges. A high entry threshold even for technical users: the knowledge lives in people's heads, not with the data.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3230000" y="1250000"/>
            <a:ext cx="2679900" cy="3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66CC"/>
                </a:solidFill>
                <a:latin typeface="Roche Sans"/>
                <a:ea typeface="Roche Sans"/>
                <a:cs typeface="Roche Sans"/>
                <a:sym typeface="Roche Sans"/>
              </a:rPr>
              <a:t>Our proposal</a:t>
            </a:r>
            <a:endParaRPr b="1" sz="1500">
              <a:solidFill>
                <a:srgbClr val="0066CC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A metadata layer connecting filtering pipelines to LLMs via tool calling. Describe the data once; the app and the LLM discover filters, read constraints, and apply valid values — in natural language or the GUI.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6010000" y="1250000"/>
            <a:ext cx="2679900" cy="3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78E3C"/>
                </a:solidFill>
                <a:latin typeface="Roche Sans"/>
                <a:ea typeface="Roche Sans"/>
                <a:cs typeface="Roche Sans"/>
                <a:sym typeface="Roche Sans"/>
              </a:rPr>
              <a:t>FAIR by design</a:t>
            </a:r>
            <a:endParaRPr b="1" sz="1500">
              <a:solidFill>
                <a:srgbClr val="378E3C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Findable + Accessible — metadata for humans and machines.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Interoperable — across backends.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Reusable — describe once, reproduce as shareable R code or Shiny bookmarks.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/>
        </p:nvSpPr>
        <p:spPr>
          <a:xfrm>
            <a:off x="500000" y="300000"/>
            <a:ext cx="810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Real-time GUI — and why it matters</a:t>
            </a:r>
            <a:endParaRPr b="1" sz="2600">
              <a:solidFill>
                <a:srgbClr val="3C404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450000" y="1300000"/>
            <a:ext cx="4050000" cy="3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66CC"/>
                </a:solidFill>
                <a:latin typeface="Roche Sans"/>
                <a:ea typeface="Roche Sans"/>
                <a:cs typeface="Roche Sans"/>
                <a:sym typeface="Roche Sans"/>
              </a:rPr>
              <a:t>The chat drives the GUI</a:t>
            </a:r>
            <a:endParaRPr b="1" sz="1500">
              <a:solidFill>
                <a:srgbClr val="0066CC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A chat panel lets users talk to the LLM; tool calls mutate the shared Cohort.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Post-action hooks fire an internal “data updated” signal.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The GUI reacts in real time: filters appear, values change, results refresh.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LLM edits and manual clicks are indistinguishable to the app.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4700000" y="1300000"/>
            <a:ext cx="4050000" cy="3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78E3C"/>
                </a:solidFill>
                <a:latin typeface="Roche Sans"/>
                <a:ea typeface="Roche Sans"/>
                <a:cs typeface="Roche Sans"/>
                <a:sym typeface="Roche Sans"/>
              </a:rPr>
              <a:t>Why it matters</a:t>
            </a:r>
            <a:endParaRPr b="1" sz="1500">
              <a:solidFill>
                <a:srgbClr val="378E3C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A fully metadata-driven solution with reproducible output.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The filtered data is always represented in the UI.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Technical users keep full, precise control of the pipeline.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Describe the data model once — you decide what the LLM can access.</a:t>
            </a:r>
            <a:endParaRPr sz="12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/>
        </p:nvSpPr>
        <p:spPr>
          <a:xfrm>
            <a:off x="800000" y="1700000"/>
            <a:ext cx="75000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3C4043"/>
                </a:solidFill>
                <a:latin typeface="Roche Sans"/>
                <a:ea typeface="Roche Sans"/>
                <a:cs typeface="Roche Sans"/>
                <a:sym typeface="Roche Sans"/>
              </a:rPr>
              <a:t>Thank you!</a:t>
            </a:r>
            <a:endParaRPr b="1" sz="4400">
              <a:solidFill>
                <a:srgbClr val="3C404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800000" y="2850000"/>
            <a:ext cx="75000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CC"/>
                </a:solidFill>
                <a:latin typeface="Roche Sans"/>
                <a:ea typeface="Roche Sans"/>
                <a:cs typeface="Roche Sans"/>
                <a:sym typeface="Roche Sans"/>
              </a:rPr>
              <a:t>cohortBuilder docs — https://r-world-devs.github.io/cohortBuilder/</a:t>
            </a:r>
            <a:endParaRPr>
              <a:solidFill>
                <a:srgbClr val="0066CC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66CC"/>
                </a:solidFill>
                <a:latin typeface="Roche Sans"/>
                <a:ea typeface="Roche Sans"/>
                <a:cs typeface="Roche Sans"/>
                <a:sym typeface="Roche Sans"/>
              </a:rPr>
              <a:t>shinyCohortBuilder docs — https://r-world-devs.github.io/shinyCohortBuilder/</a:t>
            </a:r>
            <a:endParaRPr>
              <a:solidFill>
                <a:srgbClr val="0066CC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6CC"/>
              </a:solidFill>
              <a:latin typeface="Roche Sans"/>
              <a:ea typeface="Roche Sans"/>
              <a:cs typeface="Roche Sans"/>
              <a:sym typeface="Roch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latin typeface="Roche Sans"/>
                <a:ea typeface="Roche Sans"/>
                <a:cs typeface="Roche Sans"/>
                <a:sym typeface="Roche Sans"/>
              </a:rPr>
              <a:t>Krystian Igras · Adam Foryś</a:t>
            </a:r>
            <a:endParaRPr sz="1300">
              <a:solidFill>
                <a:srgbClr val="333333"/>
              </a:solidFill>
              <a:latin typeface="Roche Sans"/>
              <a:ea typeface="Roche Sans"/>
              <a:cs typeface="Roche Sans"/>
              <a:sym typeface="Roch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